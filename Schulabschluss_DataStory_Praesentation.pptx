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Sprecher: Max Budde (Teil 1 - Befund, ca. 5 Min). Begrüßung. Kernthese: Schulabschluss ist nicht nur Ländersache - Bildungsrisiken entscheiden sich LOKAL. Kurz Team (Budde/Kanto/Ziegler) und Modul W2-AA nennen. Überleitung zur Vision.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Max Budde. Vision: Wir verfolgen Abschlüsse von der Bundesland- bis auf die Kreisebene und verknüpfen sie mit Schulstruktur, Ausgaben und Arbeitsmarkt. Daten-Flow am Schaubild durchgehen: INPUT -&gt; OUTPUT -&gt; ÜBERGANG -&gt; ERGEBNIS. Betonen: ausschließlich offene Daten (Destatis/Regionalstatistik), kein Login.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Max Budde. Die 9 Leitfragen in 3 Blöcken vorstellen: Befund (ich), Struktur (John), Ökonomie (Aaron). Nur kurz anreißen - Details folgen je Block.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Max Budde - LF1. Sachsen-Anhalt führt 2023 mit 12,7 % Abgängen ohne Hauptschulabschluss; Ost-Flächenländer + Bremen/SH oben, Bayern am niedrigsten (5,4 %). Anstieg 2022 (11,3 %) -&gt; 2023 (12,7 %). Wert in Power BI und unabhängig gegen die amtlichen Quellwerte verifiziert.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Max Budde - LF2/LF3. Es ist auch ein Kreisproblem: Hotspots Anhalt-Bitterfeld 16,8 %, Pirmasens 16,5 %. Das Streudiagramm und die Streuungstabelle zeigen: starke Streuung INNERHALB der Länder (z. B. Rheinland-Pfalz Spannweite 12,7 pp). Landesdurchschnitt verdeckt lokale Extreme. Übergabe an John Kanto.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Sprecher: John Kanto (Teil 2 - Struktur, ca. 5 Min). LF4 Geschlechtergefälle: ohne HSA Jungen 8,4 % vs. Mädchen 5,8 %; Abitur Mädchen 37,1 % vs. Jungen 29,3 %. Gefälle in beide Richtungen (DE 2023).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John Kanto - LF5 Schulartmix (DE 2023): Der Schulartmix prägt die Abschlussverteilung. Von 55.705 Abgängen ohne Hauptschulabschluss stellen Förderschulen 42 % (23.324), integrierte Gesamtschulen 22 %, Schularten mit mehreren Bildungsgängen 16 % und Hauptschulen 13 % - von Gymnasien nur rund 3 % (Destatis 21111-12, Landesebene).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John Kanto - LF6. Die Wertung kippt: absolut führt NRW (meiste Fälle), relativ (je 1.000 der 15-18-Jährigen) führt Sachsen-Anhalt. Kleine Ost-Länder und Bremen rücken nach vorn. Relative Betrachtung ist fairer. Übergabe an Aaron Ziegler.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Sprecher: Aaron Ziegler (Teil 3 - Ökonomie, ca. 5 Min). LF7 Ausgaben je Schüler: Gymnasien/Gesamtschulen am teuersten (~11 Tsd €), Grundschulen ~8,4 Tsd €. Nach Bundesland führen die Stadtstaaten (Berlin/Hamburg).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Aaron Ziegler - LF8. Mehr Ausgaben je Schüler gehen mit höherer Abiturquote einher: r = +0,61 über 16 Bundesländer; mit der Quote ohne HSA r = -0,33. WICHTIG: Zusammenhang, KEINE Kausalität; Strukturkosten der Stadtstaaten beachten.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Aaron Ziegler - LF9. Risiko-Kreise verbinden hohes Bildungsrisiko (ohne HSA), hohe Jugend-Arbeitslosigkeit und niedriges verfügbares Einkommen: Gelsenkirchen führt (Score 8,1) vor Pirmasens und Mansfeld-Südharz. Score z-standardisiert über drei Dimensionen, gleich gewichtet. Datenstände 2023/2025/2021 transparent dokumentiert.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Aaron Ziegler - Datenqualität &amp; Methodik. 6 offene Quellen, jede Kennzahl unabhängig gegen die amtlichen Quellwerte nachgerechnet; Konsistenz/Plausibilität geprüft, Missing nie als 0. Behobene Datenfehler transparent dokumentiert (DQ8-DQ11): Dezimal-Locale (Jugend-ALQ x10), Whitespace-Join (Ausgaben), Jahresbezug 2023. Sternschema: 4 Kern-Fakten + 4 Dimensionen.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Aaron Ziegler - Fazit. Kernbotschaften zusammenführen: Niveau = Länderpolitik, aber Risiken sind lokal; Streuung; relative Betrachtung verändert das Ranking; Ausgaben-Zusammenhang ohne Kausalbeweis; Risiko-Kreise. Schlusssatz: Bildungsinvestitionen wirken nur, wenn sie lokal in Abschlüsse, Übergänge und Einkommen übersetzt werden.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Aaron Ziegler - Dank und Überleitung zur Diskussion. Für Rückfragen bereitstehen; Team nochmals nennen.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600" b="1" i="0">
                <a:solidFill>
                  <a:srgbClr val="FFFFFF"/>
                </a:solidFill>
                <a:latin typeface="Cambria"/>
              </a:rPr>
              <a:t>Schulabschluss ist</a:t>
            </a:r>
          </a:p>
          <a:p>
            <a:pPr algn="l">
              <a:lnSpc>
                <a:spcPct val="102000"/>
              </a:lnSpc>
            </a:pPr>
            <a:r>
              <a:rPr sz="4600" b="1" i="0">
                <a:solidFill>
                  <a:srgbClr val="FFFFFF"/>
                </a:solidFill>
                <a:latin typeface="Cambria"/>
              </a:rPr>
              <a:t>nicht nur Ländersache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1148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1">
                <a:solidFill>
                  <a:srgbClr val="CADCFC"/>
                </a:solidFill>
                <a:latin typeface="Calibri"/>
              </a:rPr>
              <a:t>Wo Bildungsrisiken lokal sichtbar werden — eine Data Story mit offenen Daten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6692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CADCFC"/>
                </a:solidFill>
                <a:latin typeface="Calibri"/>
              </a:rPr>
              <a:t>Max Budde · John Kanto · Aaron Ziegler   |   HTW Berlin · W2-AA Analytische Anwendungen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E2761"/>
                </a:solidFill>
                <a:latin typeface="Cambria"/>
              </a:rPr>
              <a:t>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64922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0" i="0">
                <a:solidFill>
                  <a:srgbClr val="222222"/>
                </a:solidFill>
                <a:latin typeface="Calibri"/>
              </a:rPr>
              <a:t>Bildungserfolg in Deutschland ist kein reines Länderphänomen — er wird lokal entschieden. Mit offenen Daten von Destatis und der Regionalstatistik verfolgen wir Schulabschlüsse von der Bundesland- bis auf die Kreisebene und verknüpfen sie mit Schulstruktur, Bildungsausgaben und Arbeitsmarkt.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4206240"/>
            <a:ext cx="2468880" cy="1143000"/>
          </a:xfrm>
          <a:prstGeom prst="round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INPUT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Ausgaben · Schulstruktur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27248" y="4526279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666666"/>
                </a:solidFill>
                <a:latin typeface="Calibr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4206240"/>
            <a:ext cx="2468880" cy="1143000"/>
          </a:xfrm>
          <a:prstGeom prst="roundRect">
            <a:avLst/>
          </a:prstGeom>
          <a:solidFill>
            <a:srgbClr val="6B6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OUTPUT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Abschlüsse · Abgänge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4526279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666666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4206240"/>
            <a:ext cx="2468880" cy="1143000"/>
          </a:xfrm>
          <a:prstGeom prst="round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ÜBERGANG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Berufsschule · Ausbildung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59952" y="4526279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666666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89136" y="4206240"/>
            <a:ext cx="2468880" cy="1143000"/>
          </a:xfrm>
          <a:prstGeom prst="roundRect">
            <a:avLst/>
          </a:prstGeom>
          <a:solidFill>
            <a:srgbClr val="5552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ERGEBNIS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Einkommen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E2761"/>
                </a:solidFill>
                <a:latin typeface="Cambria"/>
              </a:rPr>
              <a:t>Leitfragen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566160" cy="384048"/>
          </a:xfrm>
          <a:prstGeom prst="round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DER BEFUND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3566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•  Welche Bundesländer führen 22/23 &amp; 23/24 bei Abgängern ohne Abschluss?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•  Wo ist der Anteil ohne Hauptschulabschluss am höchsten?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•  Länder- oder Kreisproblem: Wie stark streuen die Kreise?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5112" y="1463040"/>
            <a:ext cx="3566160" cy="384048"/>
          </a:xfrm>
          <a:prstGeom prst="round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DIE STRUKTUR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5112" y="2057400"/>
            <a:ext cx="3566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•  Schneiden Jungen und Mädchen unterschiedlich ab?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•  Wie prägt der Schulartmix die Abschlussverteilung?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•  Ändert sich die Wertung relativ statt absolut?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1583" y="1463040"/>
            <a:ext cx="3566160" cy="384048"/>
          </a:xfrm>
          <a:prstGeom prst="roundRect">
            <a:avLst/>
          </a:prstGeom>
          <a:solidFill>
            <a:srgbClr val="5552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DAS ÖKONOMISCHE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01583" y="2057400"/>
            <a:ext cx="3566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•  Wie verteilen sich die Bildungsausgaben nach Bereich?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•  Mehr Ausgaben je Schüler, bessere Abschlüsse?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•  Welche Kreise verbinden Bildungsrisiko, Arbeitslosigkeit &amp; niedriges Einkommen?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84048"/>
          </a:xfrm>
          <a:prstGeom prst="round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TEIL 1 · BEFUND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E2761"/>
                </a:solidFill>
                <a:latin typeface="Cambria"/>
              </a:rPr>
              <a:t>LF1 — Sachsen-Anhalt führt bei Abgängen ohne Abschluss</a:t>
            </a:r>
          </a:p>
        </p:txBody>
      </p:sp>
      <p:pic>
        <p:nvPicPr>
          <p:cNvPr id="5" name="Picture 4" descr="pbi_l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081783"/>
            <a:ext cx="5943600" cy="38831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920240"/>
            <a:ext cx="5394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1">
                <a:solidFill>
                  <a:srgbClr val="222222"/>
                </a:solidFill>
                <a:latin typeface="Calibri"/>
              </a:rPr>
              <a:t>•  Ost-Flächenländer + Bremen/SH an der Spitze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Sachsen-Anhalt 2022: 11,3 % → 2023: 12,7 %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Bayern am niedrigsten (5,4 %)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Anteil bundesweit leicht steigend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46320"/>
            <a:ext cx="5394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0072B2"/>
                </a:solidFill>
                <a:latin typeface="Cambria"/>
              </a:rPr>
              <a:t>12,7 %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5715000"/>
            <a:ext cx="5394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66666"/>
                </a:solidFill>
                <a:latin typeface="Calibri"/>
              </a:rPr>
              <a:t>Sachsen-Anhalt 2023 ohne Hauptschulabschluss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66666"/>
                </a:solidFill>
                <a:latin typeface="Calibri"/>
              </a:rPr>
              <a:t>Quelle: Destatis/Regionalstatistik (offene Daten), Abruf 2026-06-29 · eigene Berechnung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84048"/>
          </a:xfrm>
          <a:prstGeom prst="round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TEIL 1 · BEFUND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E2761"/>
                </a:solidFill>
                <a:latin typeface="Cambria"/>
              </a:rPr>
              <a:t>LF2/LF3 — Es ist auch ein Kreisproblem</a:t>
            </a:r>
          </a:p>
        </p:txBody>
      </p:sp>
      <p:pic>
        <p:nvPicPr>
          <p:cNvPr id="5" name="Picture 4" descr="pbi_lf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287828"/>
            <a:ext cx="5943600" cy="347106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920240"/>
            <a:ext cx="5394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1">
                <a:solidFill>
                  <a:srgbClr val="222222"/>
                </a:solidFill>
                <a:latin typeface="Calibri"/>
              </a:rPr>
              <a:t>•  Hotspots: Anhalt-Bitterfeld 16,8 %, Pirmasens 16,5 %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Starke Streuung INNERHALB der Länder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Rheinland-Pfalz: Spannweite 12,7 Prozentpunkte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Landesdurchschnitt verdeckt lokale Extreme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46320"/>
            <a:ext cx="5394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0072B2"/>
                </a:solidFill>
                <a:latin typeface="Cambria"/>
              </a:rPr>
              <a:t>12,7 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5715000"/>
            <a:ext cx="5394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66666"/>
                </a:solidFill>
                <a:latin typeface="Calibri"/>
              </a:rPr>
              <a:t>größte Kreis-Spannweite (Rheinland-Pfalz)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66666"/>
                </a:solidFill>
                <a:latin typeface="Calibri"/>
              </a:rPr>
              <a:t>Quelle: Destatis/Regionalstatistik (offene Daten), Abruf 2026-06-29 · eigene Berechnung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84048"/>
          </a:xfrm>
          <a:prstGeom prst="round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TEIL 2 · STRUKTUR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E2761"/>
                </a:solidFill>
                <a:latin typeface="Cambria"/>
              </a:rPr>
              <a:t>LF4 — Jungen öfter ohne Abschluss, Mädchen öfter Abitur</a:t>
            </a:r>
          </a:p>
        </p:txBody>
      </p:sp>
      <p:pic>
        <p:nvPicPr>
          <p:cNvPr id="5" name="Picture 4" descr="pbi_lf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380413"/>
            <a:ext cx="5943600" cy="32858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920240"/>
            <a:ext cx="5394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1">
                <a:solidFill>
                  <a:srgbClr val="222222"/>
                </a:solidFill>
                <a:latin typeface="Calibri"/>
              </a:rPr>
              <a:t>•  Ohne HSA: Jungen 8,4 % vs. Mädchen 5,8 %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1">
                <a:solidFill>
                  <a:srgbClr val="222222"/>
                </a:solidFill>
                <a:latin typeface="Calibri"/>
              </a:rPr>
              <a:t>•  Abitur: Mädchen 37,1 % vs. Jungen 29,3 %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Abweichung zwischen den Geschlechtern in beide Richtungen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Standard Deutschland – je Bundesland filterbar (2023)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46320"/>
            <a:ext cx="5394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69F00"/>
                </a:solidFill>
                <a:latin typeface="Cambria"/>
              </a:rPr>
              <a:t>+7,8 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5715000"/>
            <a:ext cx="5394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66666"/>
                </a:solidFill>
                <a:latin typeface="Calibri"/>
              </a:rPr>
              <a:t>Abitur-Vorsprung der Mädchen (DE 2023)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66666"/>
                </a:solidFill>
                <a:latin typeface="Calibri"/>
              </a:rPr>
              <a:t>Quelle: Destatis/Regionalstatistik (offene Daten), Abruf 2026-06-29 · eigene Berechnung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84048"/>
          </a:xfrm>
          <a:prstGeom prst="round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TEIL 2 · STRUKTUR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E2761"/>
                </a:solidFill>
                <a:latin typeface="Cambria"/>
              </a:rPr>
              <a:t>LF5 — Der Schulartmix prägt die Abschlussverteilung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3474720" cy="164592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19456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E2761"/>
                </a:solidFill>
                <a:latin typeface="Cambria"/>
              </a:rPr>
              <a:t>42 %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97180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Förderschulen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11680"/>
            <a:ext cx="3474720" cy="164592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19456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E2761"/>
                </a:solidFill>
                <a:latin typeface="Cambria"/>
              </a:rPr>
              <a:t>22 %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297180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Integr. Gesamtschulen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59" y="2011680"/>
            <a:ext cx="3474720" cy="164592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39" y="219456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E2761"/>
                </a:solidFill>
                <a:latin typeface="Cambria"/>
              </a:rPr>
              <a:t>16 %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7" y="297180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Schularten m. mehr. BG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931920"/>
            <a:ext cx="3474720" cy="164592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411480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E2761"/>
                </a:solidFill>
                <a:latin typeface="Cambria"/>
              </a:rPr>
              <a:t>13 %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489204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Hauptschulen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931920"/>
            <a:ext cx="3474720" cy="164592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411480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E2761"/>
                </a:solidFill>
                <a:latin typeface="Cambria"/>
              </a:rPr>
              <a:t>5 %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489204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Realschulen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59" y="3931920"/>
            <a:ext cx="3474720" cy="164592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39" y="411480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E2761"/>
                </a:solidFill>
                <a:latin typeface="Cambria"/>
              </a:rPr>
              <a:t>~3 %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7" y="489204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Gymnasien (G8/G9)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1">
                <a:solidFill>
                  <a:srgbClr val="666666"/>
                </a:solidFill>
                <a:latin typeface="Calibri"/>
              </a:rPr>
              <a:t>Herkunft der Abgänge ohne Hauptschulabschluss nach Schulart (DE 2023, Destatis 21111-12): Förderschulen stellen 42 %, integrierte Gesamtschulen 22 % – von Gymnasien nur rund 3 %.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66666"/>
                </a:solidFill>
                <a:latin typeface="Calibri"/>
              </a:rPr>
              <a:t>Quelle: Destatis/Regionalstatistik (offene Daten), Abruf 2026-06-29 · eigene Berechnung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84048"/>
          </a:xfrm>
          <a:prstGeom prst="round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TEIL 2 · STRUKTUR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E2761"/>
                </a:solidFill>
                <a:latin typeface="Cambria"/>
              </a:rPr>
              <a:t>LF6 — Die Wertung kippt: absolut vs. relativ</a:t>
            </a:r>
          </a:p>
        </p:txBody>
      </p:sp>
      <p:pic>
        <p:nvPicPr>
          <p:cNvPr id="5" name="Picture 4" descr="pbi_lf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313584"/>
            <a:ext cx="5943600" cy="341955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920240"/>
            <a:ext cx="5394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Absolut führt NRW (11.835 ohne HSA)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1">
                <a:solidFill>
                  <a:srgbClr val="222222"/>
                </a:solidFill>
                <a:latin typeface="Calibri"/>
              </a:rPr>
              <a:t>•  Relativ (je 1.000 der 15–18-Jährigen) führt Sachsen-Anhalt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Kleine Ost-Länder &amp; Bremen rücken nach vorn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1">
                <a:solidFill>
                  <a:srgbClr val="222222"/>
                </a:solidFill>
                <a:latin typeface="Calibri"/>
              </a:rPr>
              <a:t>•  Relative Betrachtung ist fairer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46320"/>
            <a:ext cx="5394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69F00"/>
                </a:solidFill>
                <a:latin typeface="Cambria"/>
              </a:rPr>
              <a:t>Rang kippt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5715000"/>
            <a:ext cx="5394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66666"/>
                </a:solidFill>
                <a:latin typeface="Calibri"/>
              </a:rPr>
              <a:t>NRW #1 absolut → Sachsen-Anhalt #1 relativ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66666"/>
                </a:solidFill>
                <a:latin typeface="Calibri"/>
              </a:rPr>
              <a:t>Quelle: Destatis/Regionalstatistik (offene Daten), Abruf 2026-06-29 · eigene Berechnung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651760" cy="384048"/>
          </a:xfrm>
          <a:prstGeom prst="roundRect">
            <a:avLst/>
          </a:prstGeom>
          <a:solidFill>
            <a:srgbClr val="5552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TEIL 3 · ÖKONOMISCH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E2761"/>
                </a:solidFill>
                <a:latin typeface="Cambria"/>
              </a:rPr>
              <a:t>LF7 — Bildungsausgaben je Schüler nach Schulart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3474720" cy="164592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19456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555277"/>
                </a:solidFill>
                <a:latin typeface="Cambria"/>
              </a:rPr>
              <a:t>8.400 €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97180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Grundschulen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11680"/>
            <a:ext cx="3474720" cy="164592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19456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555277"/>
                </a:solidFill>
                <a:latin typeface="Cambria"/>
              </a:rPr>
              <a:t>9.700 €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297180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Realschulen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59" y="2011680"/>
            <a:ext cx="3474720" cy="164592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39" y="219456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555277"/>
                </a:solidFill>
                <a:latin typeface="Cambria"/>
              </a:rPr>
              <a:t>10.900 €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7" y="297180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Gymnasien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931920"/>
            <a:ext cx="3474720" cy="164592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411480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555277"/>
                </a:solidFill>
                <a:latin typeface="Cambria"/>
              </a:rPr>
              <a:t>10.600 €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489204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Mehrere Bildungsg.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931920"/>
            <a:ext cx="3474720" cy="164592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411480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555277"/>
                </a:solidFill>
                <a:latin typeface="Cambria"/>
              </a:rPr>
              <a:t>11.600 €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489204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Integr. Gesamtschulen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59" y="3931920"/>
            <a:ext cx="3474720" cy="164592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39" y="411480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555277"/>
                </a:solidFill>
                <a:latin typeface="Cambria"/>
              </a:rPr>
              <a:t>9.800 €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7" y="489204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Alle Schularten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1">
                <a:solidFill>
                  <a:srgbClr val="666666"/>
                </a:solidFill>
                <a:latin typeface="Calibri"/>
              </a:rPr>
              <a:t>Ausgaben je Schüler:in (Deutschland 2023). Gymnasien &amp; Gesamtschulen am teuersten.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66666"/>
                </a:solidFill>
                <a:latin typeface="Calibri"/>
              </a:rPr>
              <a:t>Quelle: Destatis/Regionalstatistik (offene Daten), Abruf 2026-06-29 · eigene Berechnung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84048"/>
          </a:xfrm>
          <a:prstGeom prst="roundRect">
            <a:avLst/>
          </a:prstGeom>
          <a:solidFill>
            <a:srgbClr val="5552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TEIL 3 · ÖKONOMISCH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E2761"/>
                </a:solidFill>
                <a:latin typeface="Cambria"/>
              </a:rPr>
              <a:t>LF8 — Mehr Geld = mehr Abitur? Nur scheinbar</a:t>
            </a:r>
          </a:p>
        </p:txBody>
      </p:sp>
      <p:pic>
        <p:nvPicPr>
          <p:cNvPr id="5" name="Picture 4" descr="pbi_lf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083765"/>
            <a:ext cx="5943600" cy="387918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920240"/>
            <a:ext cx="5394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1">
                <a:solidFill>
                  <a:srgbClr val="222222"/>
                </a:solidFill>
                <a:latin typeface="Calibri"/>
              </a:rPr>
              <a:t>•  r = +0,61 über alle 16 BL (p=0,01) …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1">
                <a:solidFill>
                  <a:srgbClr val="222222"/>
                </a:solidFill>
                <a:latin typeface="Calibri"/>
              </a:rPr>
              <a:t>•  … aber OHNE Stadtstaaten: r = −0,36 (n.s.)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1">
                <a:solidFill>
                  <a:srgbClr val="222222"/>
                </a:solidFill>
                <a:latin typeface="Calibri"/>
              </a:rPr>
              <a:t>•  Positiver Eindruck = Stadtstaaten-Artefakt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n=16 → kein robuster Befund, keine Kausalität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46320"/>
            <a:ext cx="5394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555277"/>
                </a:solidFill>
                <a:latin typeface="Cambria"/>
              </a:rPr>
              <a:t>Artefakt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5715000"/>
            <a:ext cx="5394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66666"/>
                </a:solidFill>
                <a:latin typeface="Calibri"/>
              </a:rPr>
              <a:t>Stadtstaaten treiben die Trendlinie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66666"/>
                </a:solidFill>
                <a:latin typeface="Calibri"/>
              </a:rPr>
              <a:t>Quelle: Destatis/Regionalstatistik (offene Daten), Abruf 2026-06-29 · eigene Berechnung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84048"/>
          </a:xfrm>
          <a:prstGeom prst="roundRect">
            <a:avLst/>
          </a:prstGeom>
          <a:solidFill>
            <a:srgbClr val="5552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TEIL 3 · ÖKONOMISCH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E2761"/>
                </a:solidFill>
                <a:latin typeface="Cambria"/>
              </a:rPr>
              <a:t>LF9 — Risiko-Kreise: Bildung trifft Arbeitsmarkt</a:t>
            </a:r>
          </a:p>
        </p:txBody>
      </p:sp>
      <p:pic>
        <p:nvPicPr>
          <p:cNvPr id="5" name="Picture 4" descr="pbi_lf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321509"/>
            <a:ext cx="5943600" cy="340370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920240"/>
            <a:ext cx="5394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1">
                <a:solidFill>
                  <a:srgbClr val="222222"/>
                </a:solidFill>
                <a:latin typeface="Calibri"/>
              </a:rPr>
              <a:t>•  Gelsenkirchen, Pirmasens, Mansfeld-Südharz führen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Hohe Quote ohne HSA + hohe Jugend-ALQ + niedriges Einkommen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Score z-standardisiert (3 Dimensionen), gleich gewichtet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Datenstände 2023/2025/2021 dokumentiert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46320"/>
            <a:ext cx="5394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555277"/>
                </a:solidFill>
                <a:latin typeface="Cambria"/>
              </a:rPr>
              <a:t>Top-Risiko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5715000"/>
            <a:ext cx="5394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66666"/>
                </a:solidFill>
                <a:latin typeface="Calibri"/>
              </a:rPr>
              <a:t>Gelsenkirchen: Score 8,1 · 13,0 % ohne HSA · 13,4 % Jugend-ALQ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66666"/>
                </a:solidFill>
                <a:latin typeface="Calibri"/>
              </a:rPr>
              <a:t>Quelle: Destatis/Regionalstatistik (offene Daten), Abruf 2026-06-29 · eigene Berechnung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E2761"/>
                </a:solidFill>
                <a:latin typeface="Cambria"/>
              </a:rPr>
              <a:t>Datenqualität &amp; Methodik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3474720" cy="201168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69164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E2761"/>
                </a:solidFill>
                <a:latin typeface="Cambria"/>
              </a:rPr>
              <a:t>6 offene Quellen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377440"/>
            <a:ext cx="3108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222222"/>
                </a:solidFill>
                <a:latin typeface="Calibri"/>
              </a:rPr>
              <a:t>Destatis &amp; Regionalstatistik, kein Login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474720" cy="201168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0288" y="169164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E2761"/>
                </a:solidFill>
                <a:latin typeface="Cambria"/>
              </a:rPr>
              <a:t>Doppelte Absicherung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08576" y="2377440"/>
            <a:ext cx="3108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222222"/>
                </a:solidFill>
                <a:latin typeface="Calibri"/>
              </a:rPr>
              <a:t>jede Kennzahl gegen amtliche Quellwerte nachgerechnet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59" y="1463040"/>
            <a:ext cx="3474720" cy="201168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9327" y="169164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E2761"/>
                </a:solidFill>
                <a:latin typeface="Cambria"/>
              </a:rPr>
              <a:t>Konsistenz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7615" y="2377440"/>
            <a:ext cx="3108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222222"/>
                </a:solidFill>
                <a:latin typeface="Calibri"/>
              </a:rPr>
              <a:t>12/14 Länder: Kreis-Σ = Land exakt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49039"/>
            <a:ext cx="3474720" cy="201168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977639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E2761"/>
                </a:solidFill>
                <a:latin typeface="Cambria"/>
              </a:rPr>
              <a:t>Plausibilität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4663440"/>
            <a:ext cx="3108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222222"/>
                </a:solidFill>
                <a:latin typeface="Calibri"/>
              </a:rPr>
              <a:t>Σ Abschlussarten = Insgesamt (DE exakt)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749039"/>
            <a:ext cx="3474720" cy="201168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0288" y="3977639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E2761"/>
                </a:solidFill>
                <a:latin typeface="Cambria"/>
              </a:rPr>
              <a:t>Encoding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4663440"/>
            <a:ext cx="3108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222222"/>
                </a:solidFill>
                <a:latin typeface="Calibri"/>
              </a:rPr>
              <a:t>Windows-1252 → UTF-8 sauber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59" y="3749039"/>
            <a:ext cx="3474720" cy="201168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7" y="3977639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E2761"/>
                </a:solidFill>
                <a:latin typeface="Cambria"/>
              </a:rPr>
              <a:t>Geheimhaltung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7615" y="4663440"/>
            <a:ext cx="3108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222222"/>
                </a:solidFill>
                <a:latin typeface="Calibri"/>
              </a:rPr>
              <a:t>–/./x als Missing, nie als 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1">
                <a:solidFill>
                  <a:srgbClr val="666666"/>
                </a:solidFill>
                <a:latin typeface="Calibri"/>
              </a:rPr>
              <a:t>Sternschema: 4 Fakten (Abgänge, Schule, Arbeitsmarkt, Ausgaben) + 4 Dimensionen (Region, Zeit, Abschluss, Schulart).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Cambria"/>
              </a:rPr>
              <a:t>Fazit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920240"/>
            <a:ext cx="10424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•  Bundeslandpolitik prägt das Niveau — aber Bildungsrisiken entscheiden sich LOKAL.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•  Starke Kreis-Streuung: Landesdurchschnitte verdecken Hotspots.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•  Relative Betrachtung verändert die Rangfolge der Länder grundlegend.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•  Mehr Ausgaben gehen mit höheren Abiturquoten einher — kein Kausalbeweis.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•  Risiko-Kreise verbinden Bildungsrisiko und Jugendarbeitslosigkeit.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76072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CADCFC"/>
                </a:solidFill>
                <a:latin typeface="Calibri"/>
              </a:rPr>
              <a:t>Bildungsinvestitionen wirken nur, wenn sie lokal in Abschlüsse, Übergänge und Einkommen übersetzt werden.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FFFFFF"/>
                </a:solidFill>
                <a:latin typeface="Cambria"/>
              </a:rPr>
              <a:t>Danke!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9319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CADCFC"/>
                </a:solidFill>
                <a:latin typeface="Calibri"/>
              </a:rPr>
              <a:t>Max Budde · John Kanto · Aaron Ziegler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572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CADCFC"/>
                </a:solidFill>
                <a:latin typeface="Calibri"/>
              </a:rPr>
              <a:t>HTW Berlin · W2-AA Analytische Anwendungen · Prof. Dr. Kempa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